
<file path=[Content_Types].xml><?xml version="1.0" encoding="utf-8"?>
<Types xmlns="http://schemas.openxmlformats.org/package/2006/content-types"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0808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Abertura (0:00–0:25). Cite o projeto, a proposta em uma frase e a equipe: Alexis, George, Leandro e Nicolas.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Agenda (0:25–0:40). Avise STAR e </a:t>
            </a:r>
            <a:r>
              <a:rPr dirty="0" err="1"/>
              <a:t>que</a:t>
            </a:r>
            <a:r>
              <a:rPr dirty="0"/>
              <a:t> o </a:t>
            </a:r>
            <a:r>
              <a:rPr dirty="0" err="1"/>
              <a:t>foco</a:t>
            </a:r>
            <a:r>
              <a:rPr dirty="0"/>
              <a:t> é </a:t>
            </a:r>
            <a:r>
              <a:rPr dirty="0" err="1"/>
              <a:t>produto</a:t>
            </a:r>
            <a:r>
              <a:rPr dirty="0"/>
              <a:t> + </a:t>
            </a:r>
            <a:r>
              <a:rPr dirty="0" err="1"/>
              <a:t>operação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o </a:t>
            </a:r>
            <a:r>
              <a:rPr dirty="0" err="1"/>
              <a:t>modelo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Situation (0:35–1:15). Enfatize volume de abstracts e que isto não é diagnóstico autônomo.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Dados (1:15–1:40). Destaque o desbalanceamento: classe 5 ~33% e digestive ~10%. Por isso F1 macro, não só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Task (1:40–2:10). Recorte: MVP ponta a ponta, não o melhor paper de embeddings.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Arquitetura (2:10–2:45). Mostre o Compose completo e a DAG. Não diga que monitoring/Airflow estão vazios.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Modelo (2:45–3:20). Destaque vetorizador único, class_weight balanced e metrics.json.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API (3:20–3:50). Cite dor no peito: confiança ~0,30 dispara low_confidence — classe genérica ainda absorve.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MLOps (3:50–4:15). Destaque Compose completo e DAG semanal. Python 3.12 já está alinhado.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Resultados (4:15–4:40). Accuracy 0,587 e F1 0,588; recall subiu com o balanceamento. Não esconda o limite clínico.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Próximos passos (4:40–4:55). Se faltar tempo, fale só qualidade do modelo.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Fechamento (4:55–5:00). Convide perguntas sobre modelo, API ou 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m4a"/><Relationship Id="rId1" Type="http://schemas.microsoft.com/office/2007/relationships/media" Target="../media/media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m4a"/><Relationship Id="rId1" Type="http://schemas.microsoft.com/office/2007/relationships/media" Target="../media/media3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m4a"/><Relationship Id="rId1" Type="http://schemas.microsoft.com/office/2007/relationships/media" Target="../media/media4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m4a"/><Relationship Id="rId1" Type="http://schemas.microsoft.com/office/2007/relationships/media" Target="../media/media5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m4a"/><Relationship Id="rId1" Type="http://schemas.microsoft.com/office/2007/relationships/media" Target="../media/media6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7.m4a"/><Relationship Id="rId1" Type="http://schemas.microsoft.com/office/2007/relationships/media" Target="../media/media7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8.m4a"/><Relationship Id="rId1" Type="http://schemas.microsoft.com/office/2007/relationships/media" Target="../media/media8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9.m4a"/><Relationship Id="rId1" Type="http://schemas.microsoft.com/office/2007/relationships/media" Target="../media/media9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0.m4a"/><Relationship Id="rId1" Type="http://schemas.microsoft.com/office/2007/relationships/media" Target="../media/media10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1.m4a"/><Relationship Id="rId1" Type="http://schemas.microsoft.com/office/2007/relationships/media" Target="../media/media11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2.m4a"/><Relationship Id="rId1" Type="http://schemas.microsoft.com/office/2007/relationships/media" Target="../media/media12.m4a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A6A6"/>
                </a:solidFill>
                <a:latin typeface="Calibri"/>
              </a:rPr>
              <a:t>TECH CHALLENGE FASE 03  ·  NLP + MLOps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Med-Triage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6E4"/>
                </a:solidFill>
                <a:latin typeface="Calibri"/>
              </a:rPr>
              <a:t>API de classificação de abstracts médicos em cinco categorias clínicas,
com TF-IDF + regressão logística, Docker, Prometheus, Grafana, Airflow e CI/CD.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84A"/>
                </a:solidFill>
                <a:latin typeface="Calibri"/>
              </a:rPr>
              <a:t>Apresentação no modelo STAR  ·  até 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A6A6"/>
                </a:solidFill>
                <a:latin typeface="Calibri"/>
              </a:rPr>
              <a:t>Equipe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154680"/>
            <a:ext cx="5074920" cy="1005840"/>
          </a:xfrm>
          <a:prstGeom prst="rect">
            <a:avLst/>
          </a:prstGeom>
          <a:solidFill>
            <a:srgbClr val="12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3192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Alexis Ferreira Duarte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85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84A"/>
                </a:solidFill>
                <a:latin typeface="Calibri"/>
              </a:rPr>
              <a:t>RM371356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154680"/>
            <a:ext cx="5074920" cy="1005840"/>
          </a:xfrm>
          <a:prstGeom prst="rect">
            <a:avLst/>
          </a:prstGeom>
          <a:solidFill>
            <a:srgbClr val="12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33192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George Ricardo dos Santos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685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84A"/>
                </a:solidFill>
                <a:latin typeface="Calibri"/>
              </a:rPr>
              <a:t>RM374213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5074920" cy="1005840"/>
          </a:xfrm>
          <a:prstGeom prst="rect">
            <a:avLst/>
          </a:prstGeom>
          <a:solidFill>
            <a:srgbClr val="12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4622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Leandro de Souza Pignataro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828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84A"/>
                </a:solidFill>
                <a:latin typeface="Calibri"/>
              </a:rPr>
              <a:t>RM373704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297680"/>
            <a:ext cx="5074920" cy="1005840"/>
          </a:xfrm>
          <a:prstGeom prst="rect">
            <a:avLst/>
          </a:prstGeom>
          <a:solidFill>
            <a:srgbClr val="12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Nicolas de Araújo Gomes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828032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8B84A"/>
                </a:solidFill>
                <a:latin typeface="Calibri"/>
              </a:rPr>
              <a:t>RM370990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" y="5989320"/>
            <a:ext cx="12191695" cy="868680"/>
          </a:xfrm>
          <a:prstGeom prst="rect">
            <a:avLst/>
          </a:prstGeom>
          <a:solidFill>
            <a:srgbClr val="122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8C5D6"/>
                </a:solidFill>
                <a:latin typeface="Calibri"/>
              </a:rPr>
              <a:t>Medical Abstracts TC Corpus  ·  FastAPI  ·  scikit-learn  ·  Prometheus  ·  Grafana  ·  Airflow  ·  GitHub Actions</a:t>
            </a:r>
          </a:p>
        </p:txBody>
      </p:sp>
      <p:pic>
        <p:nvPicPr>
          <p:cNvPr id="33" name="Audio 32">
            <a:hlinkClick r:id="" action="ppaction://media"/>
            <a:extLst>
              <a:ext uri="{FF2B5EF4-FFF2-40B4-BE49-F238E27FC236}">
                <a16:creationId xmlns:a16="http://schemas.microsoft.com/office/drawing/2014/main" id="{F458BBC1-E34B-79ED-BD6F-F0EF003C2F5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490"/>
    </mc:Choice>
    <mc:Fallback xmlns="">
      <p:transition spd="slow" advTm="2149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3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ROTEIRO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Apresentação no modelo STAR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Até 5 minutos  ·  Situation, Task, Action, Result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65960"/>
            <a:ext cx="26517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965960"/>
            <a:ext cx="2651760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A6A6"/>
                </a:solidFill>
                <a:latin typeface="Calibri"/>
              </a:rPr>
              <a:t>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1F3A"/>
                </a:solidFill>
                <a:latin typeface="Calibri"/>
              </a:rPr>
              <a:t>Situation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A4A5C"/>
                </a:solidFill>
                <a:latin typeface="Calibri"/>
              </a:rPr>
              <a:t>O volume de literatura biomédica e o corpus de 5 classes.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965960"/>
            <a:ext cx="26517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37560" y="1965960"/>
            <a:ext cx="2651760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37560" y="20574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A6A6"/>
                </a:solidFill>
                <a:latin typeface="Calibri"/>
              </a:rPr>
              <a:t>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1F3A"/>
                </a:solidFill>
                <a:latin typeface="Calibri"/>
              </a:rPr>
              <a:t>Task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7947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A4A5C"/>
                </a:solidFill>
                <a:latin typeface="Calibri"/>
              </a:rPr>
              <a:t>Classificar, avaliar e servir um MVP operacional.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965960"/>
            <a:ext cx="26517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1965960"/>
            <a:ext cx="2651760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17920" y="20574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A6A6"/>
                </a:solidFill>
                <a:latin typeface="Calibri"/>
              </a:rPr>
              <a:t>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1F3A"/>
                </a:solidFill>
                <a:latin typeface="Calibri"/>
              </a:rPr>
              <a:t>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7947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A4A5C"/>
                </a:solidFill>
                <a:latin typeface="Calibri"/>
              </a:rPr>
              <a:t>Modelo, API, Compose, Grafana, Airflow e CI.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98280" y="1965960"/>
            <a:ext cx="26517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98280" y="1965960"/>
            <a:ext cx="2651760" cy="10515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98280" y="205740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AA6A6"/>
                </a:solidFill>
                <a:latin typeface="Calibri"/>
              </a:rPr>
              <a:t>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3200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B1F3A"/>
                </a:solidFill>
                <a:latin typeface="Calibri"/>
              </a:rPr>
              <a:t>Result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37947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A4A5C"/>
                </a:solidFill>
                <a:latin typeface="Calibri"/>
              </a:rPr>
              <a:t>Métricas do baseline, stack no ar e gaps.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02  /  12</a:t>
            </a:r>
          </a:p>
        </p:txBody>
      </p:sp>
      <p:pic>
        <p:nvPicPr>
          <p:cNvPr id="36" name="Audio 35">
            <a:hlinkClick r:id="" action="ppaction://media"/>
            <a:extLst>
              <a:ext uri="{FF2B5EF4-FFF2-40B4-BE49-F238E27FC236}">
                <a16:creationId xmlns:a16="http://schemas.microsoft.com/office/drawing/2014/main" id="{3071DABA-AF47-2970-A3C3-D676EA99FB3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41"/>
    </mc:Choice>
    <mc:Fallback xmlns="">
      <p:transition spd="slow" advTm="914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Por que classificar abstracts médicos?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Contexto clínico e de produto — apoio à triagem, não diagnóstico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54864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73152" cy="429768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1984247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O cenário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A literatura biomédica cresce mais rápido do que equipes conseguem ler.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Abstracts descrevem a condição do paciente e precisam de um primeiro filtro.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Cinco grupos clínicos recorrem com frequência em papers e prontuários.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Um classificador assistivo padroniza a triagem inicial de texto.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O valor só aparece se o modelo chegar em produção: API, monitoramento e retreino.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874519"/>
            <a:ext cx="553212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874519"/>
            <a:ext cx="73152" cy="429768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2" y="1984247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Cinco classes-alvo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1  Neoplasms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2  Digestive system diseases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3  Nervous system diseases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4  Cardiovascular diseases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5  General pathological conditions (classe majoritária)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03  /  12</a:t>
            </a:r>
          </a:p>
        </p:txBody>
      </p:sp>
      <p:pic>
        <p:nvPicPr>
          <p:cNvPr id="30" name="Audio 29">
            <a:hlinkClick r:id="" action="ppaction://media"/>
            <a:extLst>
              <a:ext uri="{FF2B5EF4-FFF2-40B4-BE49-F238E27FC236}">
                <a16:creationId xmlns:a16="http://schemas.microsoft.com/office/drawing/2014/main" id="{8086D0F4-E23E-FE95-BFA5-D53606BCF38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287"/>
    </mc:Choice>
    <mc:Fallback xmlns="">
      <p:transition spd="slow" advTm="3228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Os dados: Medical Abstracts TC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11.550 treino  ·  2.888 teste  ·  0 nulos  ·  0 duplicados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A6A6"/>
                </a:solidFill>
                <a:latin typeface="Calibri"/>
              </a:rPr>
              <a:t>11.550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amostras de treino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874519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19659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A6A6"/>
                </a:solidFill>
                <a:latin typeface="Calibri"/>
              </a:rPr>
              <a:t>2.888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amostras de teste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74519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9659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A6A6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classes clínicas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8280" y="1874519"/>
            <a:ext cx="2697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1965960"/>
            <a:ext cx="2697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A6A6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69748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nulos / duplicados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3291840" cy="3840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" y="351129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Classe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40" y="3474720"/>
            <a:ext cx="1554480" cy="3840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22192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Treino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03520" y="3474720"/>
            <a:ext cx="1554480" cy="3840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76672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Teste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3474720"/>
            <a:ext cx="1554480" cy="3840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31152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474720"/>
            <a:ext cx="1645920" cy="38404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51129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% treino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858768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0352" y="3895344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Neoplasms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49040" y="3858768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22192" y="389534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2.530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3858768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76672" y="389534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633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3858768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31152" y="389534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3.163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3858768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85632" y="3895344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21,9%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242816"/>
            <a:ext cx="329184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0352" y="427939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Digestive system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49040" y="4242816"/>
            <a:ext cx="155448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822192" y="427939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1.195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303520" y="4242816"/>
            <a:ext cx="155448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376672" y="427939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299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4242816"/>
            <a:ext cx="155448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931152" y="427939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1.494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0" y="4242816"/>
            <a:ext cx="164592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85632" y="42793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10,3%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626864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30352" y="4663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Nervous system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49040" y="4626864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822192" y="4663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1.540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0" y="4626864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376672" y="4663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385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58000" y="4626864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31152" y="46634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1.925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412480" y="4626864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485632" y="46634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13,3%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010912"/>
            <a:ext cx="329184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30352" y="50474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Cardiovascular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49040" y="5010912"/>
            <a:ext cx="155448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822192" y="50474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2.441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03520" y="5010912"/>
            <a:ext cx="155448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376672" y="50474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610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858000" y="5010912"/>
            <a:ext cx="155448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931152" y="504748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3.051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12480" y="5010912"/>
            <a:ext cx="1645920" cy="384048"/>
          </a:xfrm>
          <a:prstGeom prst="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485632" y="50474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21,1%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394960"/>
            <a:ext cx="329184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30352" y="5431536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General pathological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49040" y="539496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3822192" y="543153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3.844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03520" y="539496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376672" y="543153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961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858000" y="5394960"/>
            <a:ext cx="15544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931152" y="543153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4.805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412480" y="5394960"/>
            <a:ext cx="16459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8485632" y="5431536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A4A5C"/>
                </a:solidFill>
                <a:latin typeface="Calibri"/>
              </a:rPr>
              <a:t>33,3%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04  /  12</a:t>
            </a:r>
          </a:p>
        </p:txBody>
      </p:sp>
      <p:pic>
        <p:nvPicPr>
          <p:cNvPr id="104" name="Audio 103">
            <a:hlinkClick r:id="" action="ppaction://media"/>
            <a:extLst>
              <a:ext uri="{FF2B5EF4-FFF2-40B4-BE49-F238E27FC236}">
                <a16:creationId xmlns:a16="http://schemas.microsoft.com/office/drawing/2014/main" id="{D60C2C85-E502-187C-8652-76C032DE16A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5409"/>
    </mc:Choice>
    <mc:Fallback xmlns="">
      <p:transition spd="slow" advTm="2540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04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TASK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 que precisava ser entregue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Do CSV bruto até um serviço observável, orquestrado e reproduzível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1051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130551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A6A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039111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Explorar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404871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A4A5C"/>
                </a:solidFill>
                <a:latin typeface="Calibri"/>
              </a:rPr>
              <a:t>Volume, colunas, nulos, duplicados e distribuição das classes.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990087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990087"/>
            <a:ext cx="1051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246119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A6A6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154679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Treinar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520439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A4A5C"/>
                </a:solidFill>
                <a:latin typeface="Calibri"/>
              </a:rPr>
              <a:t>Baseline NLP clássico, métricas no hold-out e artefatos joblib + metrics.json.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05655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4105655"/>
            <a:ext cx="1051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361687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A6A6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70247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Servir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636007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A4A5C"/>
                </a:solidFill>
                <a:latin typeface="Calibri"/>
              </a:rPr>
              <a:t>API REST com contrato, saúde, confiança e flag de baixa confiança.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1223"/>
            <a:ext cx="112471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5221223"/>
            <a:ext cx="1051560" cy="10058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477255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A6A6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385815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A"/>
                </a:solidFill>
                <a:latin typeface="Calibri"/>
              </a:rPr>
              <a:t>Operar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5751575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A4A5C"/>
                </a:solidFill>
                <a:latin typeface="Calibri"/>
              </a:rPr>
              <a:t>Python 3.12, Compose (API, Prometheus, Grafana, Airflow) e CI/CD.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05  /  12</a:t>
            </a:r>
          </a:p>
        </p:txBody>
      </p:sp>
      <p:pic>
        <p:nvPicPr>
          <p:cNvPr id="55" name="Audio 54">
            <a:hlinkClick r:id="" action="ppaction://media"/>
            <a:extLst>
              <a:ext uri="{FF2B5EF4-FFF2-40B4-BE49-F238E27FC236}">
                <a16:creationId xmlns:a16="http://schemas.microsoft.com/office/drawing/2014/main" id="{EF8CC845-A9B9-FD58-9AAB-B71749621EB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956"/>
    </mc:Choice>
    <mc:Fallback xmlns="">
      <p:transition spd="slow" advTm="1995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Arquitetura do repositório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Código em src/  ·  orquestração em dags/  ·  stack no docker-compose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21488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214884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99339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data/raw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CSVs train, test
e labels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920240"/>
            <a:ext cx="21488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97480" y="1920240"/>
            <a:ext cx="214884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97480" y="199339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src/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51460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loader, treino
e FastAPI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920240"/>
            <a:ext cx="21488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0" y="1920240"/>
            <a:ext cx="214884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199339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dags/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51460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retreino semanal
via Airflow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1920240"/>
            <a:ext cx="21488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360920" y="1920240"/>
            <a:ext cx="214884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199339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models/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51460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joblib + metrics.json
do baseline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1920240"/>
            <a:ext cx="2148840" cy="18745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692640" y="1920240"/>
            <a:ext cx="2148840" cy="4572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92640" y="1993392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Compose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51460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API, Prom, Grafana
Postgres, Airflow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023360"/>
            <a:ext cx="548640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" y="4023360"/>
            <a:ext cx="73152" cy="219456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13308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Implementado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README, Makefile e labels via CSV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Prometheus + Grafana com dashboard provisionado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DAG medical_model_retraining (@weekly)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CI em Python 3.12 e CD da imagem no GHCR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023360"/>
            <a:ext cx="5532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72200" y="4023360"/>
            <a:ext cx="73152" cy="219456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4133088"/>
            <a:ext cx="5166360" cy="1610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500" b="1" dirty="0" err="1">
                <a:solidFill>
                  <a:srgbClr val="0B1F3A"/>
                </a:solidFill>
                <a:latin typeface="Calibri"/>
              </a:rPr>
              <a:t>Fluxo</a:t>
            </a:r>
            <a:r>
              <a:rPr lang="en-US" sz="1500" b="1" dirty="0">
                <a:solidFill>
                  <a:srgbClr val="0B1F3A"/>
                </a:solidFill>
                <a:latin typeface="Calibri"/>
              </a:rPr>
              <a:t> </a:t>
            </a:r>
            <a:r>
              <a:rPr lang="en-US" sz="1500" b="1" dirty="0" err="1">
                <a:solidFill>
                  <a:srgbClr val="0B1F3A"/>
                </a:solidFill>
                <a:latin typeface="Calibri"/>
              </a:rPr>
              <a:t>ponta</a:t>
            </a:r>
            <a:r>
              <a:rPr lang="en-US" sz="1500" b="1" dirty="0">
                <a:solidFill>
                  <a:srgbClr val="0B1F3A"/>
                </a:solidFill>
                <a:latin typeface="Calibri"/>
              </a:rPr>
              <a:t> a </a:t>
            </a:r>
            <a:r>
              <a:rPr lang="en-US" sz="1500" b="1" dirty="0" err="1">
                <a:solidFill>
                  <a:srgbClr val="0B1F3A"/>
                </a:solidFill>
                <a:latin typeface="Calibri"/>
              </a:rPr>
              <a:t>ponta</a:t>
            </a:r>
            <a:r>
              <a:rPr lang="en-US" sz="1500" b="1" dirty="0">
                <a:solidFill>
                  <a:srgbClr val="0B1F3A"/>
                </a:solidFill>
                <a:latin typeface="Calibri"/>
              </a:rPr>
              <a:t>:</a:t>
            </a:r>
            <a:endParaRPr sz="1500" b="1" dirty="0">
              <a:solidFill>
                <a:srgbClr val="0B1F3A"/>
              </a:solidFill>
              <a:latin typeface="Calibri"/>
            </a:endParaRPr>
          </a:p>
          <a:p>
            <a:pPr lvl="0">
              <a:spcBef>
                <a:spcPts val="800"/>
              </a:spcBef>
              <a:spcAft>
                <a:spcPts val="200"/>
              </a:spcAft>
            </a:pPr>
            <a:r>
              <a:rPr lang="en-US" sz="1300" dirty="0">
                <a:solidFill>
                  <a:srgbClr val="3A4A5C"/>
                </a:solidFill>
                <a:latin typeface="Calibri"/>
              </a:rPr>
              <a:t>•  CSV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em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 data/raw 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alimenta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o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treino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em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 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src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/</a:t>
            </a:r>
          </a:p>
          <a:p>
            <a:pPr lvl="0">
              <a:spcBef>
                <a:spcPts val="800"/>
              </a:spcBef>
              <a:spcAft>
                <a:spcPts val="200"/>
              </a:spcAft>
            </a:pPr>
            <a:r>
              <a:rPr lang="en-US" sz="1300" dirty="0">
                <a:solidFill>
                  <a:srgbClr val="3A4A5C"/>
                </a:solidFill>
              </a:rPr>
              <a:t>•  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A DAG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semanal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gera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 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models.joblib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 e 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metrics.json</a:t>
            </a:r>
            <a:endParaRPr lang="en-US" sz="1300" dirty="0">
              <a:solidFill>
                <a:srgbClr val="3A4A5C"/>
              </a:solidFill>
              <a:latin typeface="Calibri"/>
            </a:endParaRPr>
          </a:p>
          <a:p>
            <a:pPr lvl="0">
              <a:spcBef>
                <a:spcPts val="800"/>
              </a:spcBef>
              <a:spcAft>
                <a:spcPts val="200"/>
              </a:spcAft>
            </a:pPr>
            <a:r>
              <a:rPr lang="en-US" sz="1300" dirty="0">
                <a:solidFill>
                  <a:srgbClr val="3A4A5C"/>
                </a:solidFill>
              </a:rPr>
              <a:t>•  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A API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carrega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o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artefato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e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responde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em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 /predict</a:t>
            </a:r>
          </a:p>
          <a:p>
            <a:pPr lvl="0">
              <a:spcBef>
                <a:spcPts val="800"/>
              </a:spcBef>
              <a:spcAft>
                <a:spcPts val="200"/>
              </a:spcAft>
            </a:pPr>
            <a:r>
              <a:rPr lang="en-US" sz="1300" dirty="0">
                <a:solidFill>
                  <a:srgbClr val="3A4A5C"/>
                </a:solidFill>
              </a:rPr>
              <a:t>•  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Prometheus coleta /metrics; Grafana </a:t>
            </a:r>
            <a:r>
              <a:rPr lang="en-US" sz="1300" dirty="0" err="1">
                <a:solidFill>
                  <a:srgbClr val="3A4A5C"/>
                </a:solidFill>
                <a:latin typeface="Calibri"/>
              </a:rPr>
              <a:t>exibe</a:t>
            </a:r>
            <a:r>
              <a:rPr lang="en-US" sz="1300" dirty="0">
                <a:solidFill>
                  <a:srgbClr val="3A4A5C"/>
                </a:solidFill>
                <a:latin typeface="Calibri"/>
              </a:rPr>
              <a:t> o dashboard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06  /  12</a:t>
            </a:r>
          </a:p>
        </p:txBody>
      </p:sp>
      <p:pic>
        <p:nvPicPr>
          <p:cNvPr id="55" name="Audio 54">
            <a:hlinkClick r:id="" action="ppaction://media"/>
            <a:extLst>
              <a:ext uri="{FF2B5EF4-FFF2-40B4-BE49-F238E27FC236}">
                <a16:creationId xmlns:a16="http://schemas.microsoft.com/office/drawing/2014/main" id="{9247C22E-C0F0-0E4B-4F36-0BEF3E8F4B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0995"/>
    </mc:Choice>
    <mc:Fallback>
      <p:transition spd="slow" advTm="3099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5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Pipeline de 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TF-IDF único + LogReg balanceada; artefatos joblib e metrics.json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2148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377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34640"/>
            <a:ext cx="1965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pandas lê
medical_tc_*.csv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920240"/>
            <a:ext cx="2148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697480" y="201168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77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TF-IDF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834640"/>
            <a:ext cx="1965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create_vectorizer()
uni+bi, sublinear_tf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920240"/>
            <a:ext cx="2148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01168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377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834640"/>
            <a:ext cx="1965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LogReg balanced
max_iter=2000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60920" y="1920240"/>
            <a:ext cx="2148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60920" y="201168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377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Evaluate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2834640"/>
            <a:ext cx="1965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acc, P/R, F1 macro
report + matriz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92640" y="1920240"/>
            <a:ext cx="214884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92640" y="201168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237744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Calibri"/>
              </a:rPr>
              <a:t>Persist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834640"/>
            <a:ext cx="19659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models.joblib
+ metrics.json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97680"/>
            <a:ext cx="112471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73152" cy="192024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40740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Decisões técnicas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Pipeline sklearn único: vetorizador e classificador viajam juntos no joblib.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create_vectorizer() em src/features/tfidf.py é o mesmo usado no treino e na DAG.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class_weight='balanced' para compensar a classe 5 (~33%) vs digestive (~10%).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Métricas do hold-out gravadas em models/baseline/metrics.json.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07  /  12</a:t>
            </a:r>
          </a:p>
        </p:txBody>
      </p:sp>
      <p:pic>
        <p:nvPicPr>
          <p:cNvPr id="42" name="Audio 41">
            <a:hlinkClick r:id="" action="ppaction://media"/>
            <a:extLst>
              <a:ext uri="{FF2B5EF4-FFF2-40B4-BE49-F238E27FC236}">
                <a16:creationId xmlns:a16="http://schemas.microsoft.com/office/drawing/2014/main" id="{77678F79-2269-DFF9-F86C-3B66B12180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205"/>
    </mc:Choice>
    <mc:Fallback>
      <p:transition spd="slow" advTm="33205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API de inferência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FastAPI + Pydantic + Prometheus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56692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01167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GET 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Redirect para /docs (Swagger)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26079"/>
            <a:ext cx="56692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06323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GET /health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89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Liveness e flag model_loaded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77639"/>
            <a:ext cx="56692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1147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POST /predict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8055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Texto → rótulo, nome, confiança, low_confidence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29199"/>
            <a:ext cx="56692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516635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GET /metrics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53211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Contadores, latência e erros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874519"/>
            <a:ext cx="5349240" cy="4251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55080" y="1874519"/>
            <a:ext cx="73152" cy="425196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11112" y="1984247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Contrato e operação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Request: { text } com min_length=1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Response: label, name, confidence, low_confidence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low_confidence = true se confiança &lt; 0,5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Nomes lidos de medical_tc_labels.csv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Validação 422 para payload vazio ou ausente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Histogram de latência em /predict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Fail-fast se o joblib não existir na subida da API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08  /  12</a:t>
            </a:r>
          </a:p>
        </p:txBody>
      </p:sp>
      <p:pic>
        <p:nvPicPr>
          <p:cNvPr id="34" name="Audio 33">
            <a:hlinkClick r:id="" action="ppaction://media"/>
            <a:extLst>
              <a:ext uri="{FF2B5EF4-FFF2-40B4-BE49-F238E27FC236}">
                <a16:creationId xmlns:a16="http://schemas.microsoft.com/office/drawing/2014/main" id="{57C44CA8-4163-AEF8-E798-A126CB81706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3576"/>
    </mc:Choice>
    <mc:Fallback>
      <p:transition spd="slow" advTm="3357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4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Qualidade, container, monitoramento e retreino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Python 3.12 alinhado no pyproject, CI e Dockerfile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36576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73152" cy="429768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1984247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Qualidade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Python 3.12 no pyproject, CI e Docker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Ruff no quality gate do GitHub Actions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Labels lidos de medical_tc_labels.csv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Métricas do hold-out em metrics.json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874519"/>
            <a:ext cx="36576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51960" y="1874519"/>
            <a:ext cx="73152" cy="429768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984247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Stack local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API :8000, Prometheus :9090, Grafana :3000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Dashboard Med-Triage provisionado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Airflow :8080 + Postgres de metadados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Dockerfile.airflow reutiliza src/ e dags/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874519"/>
            <a:ext cx="3657600" cy="429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874519"/>
            <a:ext cx="73152" cy="429768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02752" y="1984247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Entrega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CI em push/PR para main e develop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CD: imagem no GHCR com SHA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Healthcheck da API no Compose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DAG @weekly, também disparável na 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09  /  12</a:t>
            </a:r>
          </a:p>
        </p:txBody>
      </p:sp>
      <p:pic>
        <p:nvPicPr>
          <p:cNvPr id="54" name="Audio 53">
            <a:hlinkClick r:id="" action="ppaction://media"/>
            <a:extLst>
              <a:ext uri="{FF2B5EF4-FFF2-40B4-BE49-F238E27FC236}">
                <a16:creationId xmlns:a16="http://schemas.microsoft.com/office/drawing/2014/main" id="{9E63B3C8-D15E-ED69-1B47-93E9571BC2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326"/>
    </mc:Choice>
    <mc:Fallback>
      <p:transition spd="slow" advTm="2132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4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O que já está no 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Hold-out oficial  ·  models/baseline/metrics.json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6B7C8D"/>
                </a:solidFill>
                <a:latin typeface="Calibri"/>
              </a:rPr>
              <a:t>0,587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Accuracy no hold-out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874519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37560" y="1965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8B84A"/>
                </a:solidFill>
                <a:latin typeface="Calibri"/>
              </a:rPr>
              <a:t>0,588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7889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F1 macro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874519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1965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AA6A6"/>
                </a:solidFill>
                <a:latin typeface="Calibri"/>
              </a:rPr>
              <a:t>0,629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7889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Recall macro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98280" y="1874519"/>
            <a:ext cx="26974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98280" y="196596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A86A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788920"/>
            <a:ext cx="2514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3A4A5C"/>
                </a:solidFill>
                <a:latin typeface="Calibri"/>
              </a:rPr>
              <a:t>Serviços no Compose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548640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657600"/>
            <a:ext cx="73152" cy="256032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7673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Entregue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Fluxo E2E: dado → treino → joblib + metrics.json → API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Observabilidade: Prometheus + Grafana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Retreino orquestrado no Airflow (@weekly)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CI/CD 3.12, README e disclaimer clínico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55321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72200" y="3657600"/>
            <a:ext cx="73152" cy="256032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28232" y="3767328"/>
            <a:ext cx="5166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Calibri"/>
              </a:rPr>
              <a:t>Limitações honestas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F1 ~0,59 ainda é baixo para triagem clínica real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Classe 5 continua absorvendo casos ambíguos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Exemplo de dor no peito: confiança ~0,30 e low_confidence=true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300" b="0">
                <a:solidFill>
                  <a:srgbClr val="3A4A5C"/>
                </a:solidFill>
                <a:latin typeface="Calibri"/>
              </a:rPr>
              <a:t>•  A DAG grava o joblib; a API só lê o modelo na subida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10  /  12</a:t>
            </a:r>
          </a:p>
        </p:txBody>
      </p:sp>
      <p:pic>
        <p:nvPicPr>
          <p:cNvPr id="44" name="Audio 43">
            <a:hlinkClick r:id="" action="ppaction://media"/>
            <a:extLst>
              <a:ext uri="{FF2B5EF4-FFF2-40B4-BE49-F238E27FC236}">
                <a16:creationId xmlns:a16="http://schemas.microsoft.com/office/drawing/2014/main" id="{5203BC89-DBA0-1D51-1BB6-B120BFD8D56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6268"/>
    </mc:Choice>
    <mc:Fallback>
      <p:transition spd="slow" advTm="3626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4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91695" cy="73152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A6A6"/>
                </a:solidFill>
                <a:latin typeface="Calibri"/>
              </a:rPr>
              <a:t>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891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8988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C8D"/>
                </a:solidFill>
                <a:latin typeface="Calibri"/>
              </a:rPr>
              <a:t>Do MVP para um serviço mais confiável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822960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075687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84247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Subir o 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313431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Embeddings biomédicos, SVM linear ou threshold por classe.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70631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2770631"/>
            <a:ext cx="822960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971799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880359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Fechar o loop MLOps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209543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Alertas no Grafana e recarregar o artefato da API após a DAG.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66743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666743"/>
            <a:ext cx="822960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867911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776471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Qualidade contínua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105655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Versionar metrics.json a cada retreino e acompanhar F1 no tempo.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62855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4562855"/>
            <a:ext cx="822960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764023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672583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Higiene do repo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5001767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Remover pastas vazias (app/, airflow/, notebooks/) ou preenchê-las.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58967"/>
            <a:ext cx="112471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" y="5458967"/>
            <a:ext cx="822960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660135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A6A6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568695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A"/>
                </a:solidFill>
                <a:latin typeface="Calibri"/>
              </a:rPr>
              <a:t>Governança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897879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A4A5C"/>
                </a:solidFill>
                <a:latin typeface="Calibri"/>
              </a:rPr>
              <a:t>Manter o disclaimer: apoio à triagem, não diagnóstico.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8C5D6"/>
                </a:solidFill>
                <a:latin typeface="Calibri"/>
              </a:rPr>
              <a:t>Med-Triage  ·  Classificação de abstracts médicos  ·  Tech Challenge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8B84A"/>
                </a:solidFill>
                <a:latin typeface="Calibri"/>
              </a:rPr>
              <a:t>11  /  12</a:t>
            </a:r>
          </a:p>
        </p:txBody>
      </p:sp>
      <p:pic>
        <p:nvPicPr>
          <p:cNvPr id="46" name="Audio 45">
            <a:hlinkClick r:id="" action="ppaction://media"/>
            <a:extLst>
              <a:ext uri="{FF2B5EF4-FFF2-40B4-BE49-F238E27FC236}">
                <a16:creationId xmlns:a16="http://schemas.microsoft.com/office/drawing/2014/main" id="{49F7AEB5-769E-FDF6-987C-E547D3120DF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793"/>
    </mc:Choice>
    <mc:Fallback>
      <p:transition spd="slow" advTm="11793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A6A6"/>
                </a:solidFill>
                <a:latin typeface="Calibri"/>
              </a:rPr>
              <a:t>RESULT  ·  MENSAGEM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Do corpus ao endpoint
em um único fluxo.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C9D6E4"/>
                </a:solidFill>
                <a:latin typeface="Calibri"/>
              </a:rPr>
              <a:t>O Med-Triage classifica abstracts, devolve confiança e já sobe com
container, Grafana e Airflow. O próximo salto é a qualidade do modelo.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B84A"/>
                </a:solidFill>
                <a:latin typeface="Calibri"/>
              </a:rPr>
              <a:t>Obrigado  ·  perguntas</a:t>
            </a:r>
          </a:p>
        </p:txBody>
      </p:sp>
      <p:pic>
        <p:nvPicPr>
          <p:cNvPr id="19" name="Audio 18">
            <a:hlinkClick r:id="" action="ppaction://media"/>
            <a:extLst>
              <a:ext uri="{FF2B5EF4-FFF2-40B4-BE49-F238E27FC236}">
                <a16:creationId xmlns:a16="http://schemas.microsoft.com/office/drawing/2014/main" id="{112B8E41-D2D7-880A-5378-C338C6445AB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-118750" t="-118750" r="-118750" b="-118750"/>
          <a:stretch>
            <a:fillRect/>
          </a:stretch>
        </p:blipFill>
        <p:spPr>
          <a:xfrm>
            <a:off x="10052304" y="4718304"/>
            <a:ext cx="2057400" cy="2057400"/>
          </a:xfrm>
          <a:prstGeom prst="ellipse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102"/>
    </mc:Choice>
    <mc:Fallback>
      <p:transition spd="slow" advTm="1410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1575</Words>
  <Application>Microsoft Office PowerPoint</Application>
  <PresentationFormat>Widescreen</PresentationFormat>
  <Paragraphs>258</Paragraphs>
  <Slides>12</Slides>
  <Notes>12</Notes>
  <HiddenSlides>0</HiddenSlides>
  <MMClips>12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Leandro De Souza Pignataro</dc:creator>
  <cp:keywords/>
  <dc:description>generated using python-pptx</dc:description>
  <cp:lastModifiedBy>Leandro De Souza Pignataro</cp:lastModifiedBy>
  <cp:revision>3</cp:revision>
  <dcterms:created xsi:type="dcterms:W3CDTF">2013-01-27T09:14:16Z</dcterms:created>
  <dcterms:modified xsi:type="dcterms:W3CDTF">2026-09-15T17:39:52Z</dcterms:modified>
  <cp:category/>
</cp:coreProperties>
</file>